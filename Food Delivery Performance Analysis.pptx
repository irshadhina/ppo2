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33" y="58"/>
      </p:cViewPr>
      <p:guideLst>
        <p:guide pos="698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9/5/2026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195C-BE23-47D9-9863-8DD5585136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Food Delivery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538C1-B302-41BF-9263-D675E05C9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316" y="4690960"/>
            <a:ext cx="2925103" cy="1603307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Power BI Dashboard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Food Delivery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Late </a:t>
            </a:r>
            <a:r>
              <a:rPr lang="en-US" sz="1600" b="1" dirty="0"/>
              <a:t>Delivery</a:t>
            </a:r>
            <a:r>
              <a:rPr lang="en-US" sz="1200" b="1" dirty="0"/>
              <a:t>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Business &amp; Research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Prepared by : </a:t>
            </a:r>
            <a:r>
              <a:rPr lang="en-US" sz="1200" b="1" dirty="0" err="1"/>
              <a:t>Hina</a:t>
            </a:r>
            <a:r>
              <a:rPr lang="en-US" sz="1200" b="1" dirty="0"/>
              <a:t> Irshad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B4CDB-55FB-41A4-8E81-C0316B57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002" y="4579495"/>
            <a:ext cx="3222594" cy="18262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027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72A5D-BF3C-4CA4-8BF0-F3807A97DEA7}"/>
              </a:ext>
            </a:extLst>
          </p:cNvPr>
          <p:cNvSpPr txBox="1"/>
          <p:nvPr/>
        </p:nvSpPr>
        <p:spPr>
          <a:xfrm>
            <a:off x="1032029" y="1028312"/>
            <a:ext cx="74195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                      Introduction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Analysis of </a:t>
            </a:r>
            <a:r>
              <a:rPr lang="en-US" sz="2000" b="1" dirty="0"/>
              <a:t>food delivery orders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Focus on </a:t>
            </a:r>
            <a:r>
              <a:rPr lang="en-US" sz="2000" b="1" dirty="0"/>
              <a:t>late deliveries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Study of traffic, weather, distance &amp; restaurants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Dashboard created using </a:t>
            </a:r>
            <a:r>
              <a:rPr lang="en-US" sz="2000" b="1" dirty="0"/>
              <a:t>Power BI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0CFED-BFCF-46CD-82EC-5190EE8539D8}"/>
              </a:ext>
            </a:extLst>
          </p:cNvPr>
          <p:cNvSpPr txBox="1"/>
          <p:nvPr/>
        </p:nvSpPr>
        <p:spPr>
          <a:xfrm>
            <a:off x="1032029" y="3090415"/>
            <a:ext cx="75526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Dataset: Food Delivery Orders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Orders: 50,000+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Source: </a:t>
            </a:r>
            <a:r>
              <a:rPr lang="en-US" sz="2000" b="1" dirty="0"/>
              <a:t>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Contains customer, restaurant, driver &amp; delivery data 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Important Columns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dirty="0"/>
              <a:t>City | Traffic | Weather | Distance | Delivery Time | Late Delivery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454251-9176-43A8-BFB1-069B12B5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4335103"/>
            <a:ext cx="2542209" cy="108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5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51B6AE-9DD1-4C95-8218-449191193200}"/>
              </a:ext>
            </a:extLst>
          </p:cNvPr>
          <p:cNvSpPr txBox="1"/>
          <p:nvPr/>
        </p:nvSpPr>
        <p:spPr>
          <a:xfrm>
            <a:off x="978764" y="1495330"/>
            <a:ext cx="60945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                    Business Questions???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city has more delivery problems? 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Does traffic increase delays?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Does weather affect delivery?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Does distance affect delivery time?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How can late deliveries be reduced?</a:t>
            </a:r>
          </a:p>
        </p:txBody>
      </p:sp>
    </p:spTree>
    <p:extLst>
      <p:ext uri="{BB962C8B-B14F-4D97-AF65-F5344CB8AC3E}">
        <p14:creationId xmlns:p14="http://schemas.microsoft.com/office/powerpoint/2010/main" val="280862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01572-A0F5-4DCC-8429-4797AB143A9B}"/>
              </a:ext>
            </a:extLst>
          </p:cNvPr>
          <p:cNvSpPr txBox="1"/>
          <p:nvPr/>
        </p:nvSpPr>
        <p:spPr>
          <a:xfrm>
            <a:off x="1482570" y="1776365"/>
            <a:ext cx="747277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                   Research Questions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r>
              <a:rPr lang="en-US" sz="2000" b="1" dirty="0"/>
              <a:t>RQ1:</a:t>
            </a:r>
            <a:r>
              <a:rPr lang="en-US" sz="2000" dirty="0"/>
              <a:t> What factors cause late deliveries?</a:t>
            </a:r>
          </a:p>
          <a:p>
            <a:r>
              <a:rPr lang="en-US" sz="2000" b="1" dirty="0"/>
              <a:t>RQ2:</a:t>
            </a:r>
            <a:r>
              <a:rPr lang="en-US" sz="2000" dirty="0"/>
              <a:t> How do traffic and weather affect delivery?</a:t>
            </a:r>
          </a:p>
          <a:p>
            <a:r>
              <a:rPr lang="en-US" sz="2000" b="1" dirty="0"/>
              <a:t>RQ3:</a:t>
            </a:r>
            <a:r>
              <a:rPr lang="en-US" sz="2000" dirty="0"/>
              <a:t> Does distance increase delivery time?</a:t>
            </a:r>
          </a:p>
          <a:p>
            <a:r>
              <a:rPr lang="en-US" sz="2000" b="1" dirty="0"/>
              <a:t>RQ4:</a:t>
            </a:r>
            <a:r>
              <a:rPr lang="en-US" sz="2000" dirty="0"/>
              <a:t> Does restaurant preparation time affect delays?</a:t>
            </a:r>
          </a:p>
          <a:p>
            <a:r>
              <a:rPr lang="en-US" sz="2000" b="1" dirty="0"/>
              <a:t>RQ5:</a:t>
            </a:r>
            <a:r>
              <a:rPr lang="en-US" sz="2000" dirty="0"/>
              <a:t> Does driver experience affect delivery performance?</a:t>
            </a:r>
          </a:p>
        </p:txBody>
      </p:sp>
    </p:spTree>
    <p:extLst>
      <p:ext uri="{BB962C8B-B14F-4D97-AF65-F5344CB8AC3E}">
        <p14:creationId xmlns:p14="http://schemas.microsoft.com/office/powerpoint/2010/main" val="41226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B9D1DF-54B2-4339-A245-FDDBBDD71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0644"/>
              </p:ext>
            </p:extLst>
          </p:nvPr>
        </p:nvGraphicFramePr>
        <p:xfrm>
          <a:off x="1894534" y="3429000"/>
          <a:ext cx="10462549" cy="2103120"/>
        </p:xfrm>
        <a:graphic>
          <a:graphicData uri="http://schemas.openxmlformats.org/drawingml/2006/table">
            <a:tbl>
              <a:tblPr/>
              <a:tblGrid>
                <a:gridCol w="5051393">
                  <a:extLst>
                    <a:ext uri="{9D8B030D-6E8A-4147-A177-3AD203B41FA5}">
                      <a16:colId xmlns:a16="http://schemas.microsoft.com/office/drawing/2014/main" val="3482753503"/>
                    </a:ext>
                  </a:extLst>
                </a:gridCol>
                <a:gridCol w="5411156">
                  <a:extLst>
                    <a:ext uri="{9D8B030D-6E8A-4147-A177-3AD203B41FA5}">
                      <a16:colId xmlns:a16="http://schemas.microsoft.com/office/drawing/2014/main" val="2720972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KPI Card</a:t>
                      </a:r>
                    </a:p>
                    <a:p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799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Total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4,979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628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Late Deliveries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1,838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940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Late Delivery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155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Average Delivery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35.24 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32563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6DFC0B4-71CA-4BAA-8467-4973C75FC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276" y="303336"/>
            <a:ext cx="3258105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Cards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0B57B-9F3A-4BB0-8519-E5F8CAC56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33" y="1180499"/>
            <a:ext cx="8373644" cy="1848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62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54ABA-963D-4B15-8C43-81E38224980B}"/>
              </a:ext>
            </a:extLst>
          </p:cNvPr>
          <p:cNvSpPr txBox="1"/>
          <p:nvPr/>
        </p:nvSpPr>
        <p:spPr>
          <a:xfrm>
            <a:off x="931416" y="3231472"/>
            <a:ext cx="8380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KPI Cards: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Avg Preparation Time → </a:t>
            </a:r>
            <a:r>
              <a:rPr lang="en-US" sz="2000" b="1" dirty="0"/>
              <a:t>15.51 min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Avg Estimated Time → </a:t>
            </a:r>
            <a:r>
              <a:rPr lang="en-US" sz="2000" b="1" dirty="0"/>
              <a:t>31.01 min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Avg Actual Time → </a:t>
            </a:r>
            <a:r>
              <a:rPr lang="en-US" sz="2000" b="1" dirty="0"/>
              <a:t>35.24 min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Avg Driver Experience → </a:t>
            </a:r>
            <a:r>
              <a:rPr lang="en-US" sz="2000" b="1" dirty="0"/>
              <a:t>29.69 months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Highlight:</a:t>
            </a:r>
          </a:p>
          <a:p>
            <a:r>
              <a:rPr lang="en-US" sz="2000" dirty="0"/>
              <a:t>Actual delivery time is higher than estimated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10111-3768-4B39-9386-D692F075B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05" y="1235992"/>
            <a:ext cx="7030431" cy="1600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4EDA5-D78D-44E1-BB1F-FD0FBB2F38C6}"/>
              </a:ext>
            </a:extLst>
          </p:cNvPr>
          <p:cNvSpPr txBox="1"/>
          <p:nvPr/>
        </p:nvSpPr>
        <p:spPr>
          <a:xfrm>
            <a:off x="3217416" y="293733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Delivery</a:t>
            </a:r>
            <a:r>
              <a:rPr lang="en-US" sz="2000" b="1" dirty="0">
                <a:solidFill>
                  <a:srgbClr val="00B0F0"/>
                </a:solidFill>
              </a:rPr>
              <a:t> 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302436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94484-85BF-45EE-BF11-067176A3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718" y="1242874"/>
            <a:ext cx="4643020" cy="3213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8F87BC-0336-4D7B-819C-7BBC3C0F113B}"/>
              </a:ext>
            </a:extLst>
          </p:cNvPr>
          <p:cNvSpPr txBox="1"/>
          <p:nvPr/>
        </p:nvSpPr>
        <p:spPr>
          <a:xfrm>
            <a:off x="2849732" y="4893321"/>
            <a:ext cx="659610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Key Highlight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Compare late delivery performance across cities.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cities requiring operational improvement.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0B4FB-D7E5-4B88-A2C4-CCEF3F47BCD1}"/>
              </a:ext>
            </a:extLst>
          </p:cNvPr>
          <p:cNvSpPr txBox="1"/>
          <p:nvPr/>
        </p:nvSpPr>
        <p:spPr>
          <a:xfrm>
            <a:off x="3437878" y="56549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Late Delivery Rate by City</a:t>
            </a:r>
          </a:p>
        </p:txBody>
      </p:sp>
    </p:spTree>
    <p:extLst>
      <p:ext uri="{BB962C8B-B14F-4D97-AF65-F5344CB8AC3E}">
        <p14:creationId xmlns:p14="http://schemas.microsoft.com/office/powerpoint/2010/main" val="325527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07407-DF6E-4C45-8120-91B9705D64AB}"/>
              </a:ext>
            </a:extLst>
          </p:cNvPr>
          <p:cNvSpPr txBox="1"/>
          <p:nvPr/>
        </p:nvSpPr>
        <p:spPr>
          <a:xfrm>
            <a:off x="2035205" y="5148087"/>
            <a:ext cx="70377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Highlight: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Medium traffic shows the highest late deliveries.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management can improve delivery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93D9E-33B5-4140-81BA-D7121D5D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826" y="1331650"/>
            <a:ext cx="4605666" cy="3613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167437-4ADD-41FF-B688-00A68BC02DF8}"/>
              </a:ext>
            </a:extLst>
          </p:cNvPr>
          <p:cNvSpPr txBox="1"/>
          <p:nvPr/>
        </p:nvSpPr>
        <p:spPr>
          <a:xfrm>
            <a:off x="2814222" y="509584"/>
            <a:ext cx="6329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Impact of Traffic on Late Deliveries</a:t>
            </a:r>
          </a:p>
        </p:txBody>
      </p:sp>
    </p:spTree>
    <p:extLst>
      <p:ext uri="{BB962C8B-B14F-4D97-AF65-F5344CB8AC3E}">
        <p14:creationId xmlns:p14="http://schemas.microsoft.com/office/powerpoint/2010/main" val="255741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12A449-8288-49D8-8750-A04C491ADB0A}"/>
              </a:ext>
            </a:extLst>
          </p:cNvPr>
          <p:cNvSpPr txBox="1"/>
          <p:nvPr/>
        </p:nvSpPr>
        <p:spPr>
          <a:xfrm>
            <a:off x="2349252" y="4892603"/>
            <a:ext cx="64929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Highlight: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Storm</a:t>
            </a:r>
            <a:r>
              <a:rPr lang="en-US" dirty="0"/>
              <a:t> has the highest late delivery rate.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Rain</a:t>
            </a:r>
            <a:r>
              <a:rPr lang="en-US" dirty="0"/>
              <a:t> also increases delivery problems.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4D409-0AC8-4238-917F-4B15F0C68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195" y="1510831"/>
            <a:ext cx="4295019" cy="3203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F74CB6-D8BE-41E2-8254-CED1ECC114D2}"/>
              </a:ext>
            </a:extLst>
          </p:cNvPr>
          <p:cNvSpPr txBox="1"/>
          <p:nvPr/>
        </p:nvSpPr>
        <p:spPr>
          <a:xfrm>
            <a:off x="3666478" y="658122"/>
            <a:ext cx="392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Impact of  Weather</a:t>
            </a:r>
          </a:p>
        </p:txBody>
      </p:sp>
    </p:spTree>
    <p:extLst>
      <p:ext uri="{BB962C8B-B14F-4D97-AF65-F5344CB8AC3E}">
        <p14:creationId xmlns:p14="http://schemas.microsoft.com/office/powerpoint/2010/main" val="320319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E97FD7-335A-4152-81A3-A194B664C6C3}"/>
              </a:ext>
            </a:extLst>
          </p:cNvPr>
          <p:cNvSpPr txBox="1"/>
          <p:nvPr/>
        </p:nvSpPr>
        <p:spPr>
          <a:xfrm>
            <a:off x="2461334" y="5111746"/>
            <a:ext cx="60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Highlight: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dirty="0"/>
              <a:t>Wednesday has the highest rate.</a:t>
            </a:r>
          </a:p>
          <a:p>
            <a:r>
              <a:rPr lang="en-US" dirty="0"/>
              <a:t>Delivery performance changes by 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B3DB0-806C-4C3C-A3BF-99DDB476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1" y="1555912"/>
            <a:ext cx="4429956" cy="3133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4EA705-C6EB-40D3-A630-3A243252E17D}"/>
              </a:ext>
            </a:extLst>
          </p:cNvPr>
          <p:cNvSpPr txBox="1"/>
          <p:nvPr/>
        </p:nvSpPr>
        <p:spPr>
          <a:xfrm>
            <a:off x="3544409" y="65230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Late Delivery Rate by Day</a:t>
            </a:r>
          </a:p>
        </p:txBody>
      </p:sp>
    </p:spTree>
    <p:extLst>
      <p:ext uri="{BB962C8B-B14F-4D97-AF65-F5344CB8AC3E}">
        <p14:creationId xmlns:p14="http://schemas.microsoft.com/office/powerpoint/2010/main" val="387326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FF6A8-E228-4923-964D-7D1E0B35CCEF}"/>
              </a:ext>
            </a:extLst>
          </p:cNvPr>
          <p:cNvSpPr txBox="1"/>
          <p:nvPr/>
        </p:nvSpPr>
        <p:spPr>
          <a:xfrm>
            <a:off x="1816591" y="4755635"/>
            <a:ext cx="75726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</a:t>
            </a:r>
            <a:endParaRPr lang="en-US" dirty="0"/>
          </a:p>
          <a:p>
            <a:r>
              <a:rPr lang="en-US" sz="2000" b="1" dirty="0"/>
              <a:t>Distance (km) → Actual Delivery Time (minutes)</a:t>
            </a:r>
            <a:endParaRPr lang="en-US" sz="2000" dirty="0"/>
          </a:p>
          <a:p>
            <a:r>
              <a:rPr lang="en-US" sz="2000" b="1" dirty="0"/>
              <a:t>Key Highlight: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Longer distances generally require more delivery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Distance is an important factor in delivery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3473A-CB12-41CC-BF0B-8A79BA210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184" y="1360785"/>
            <a:ext cx="4465468" cy="3172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C681E9-C37B-4A2C-96EB-F8649F979153}"/>
              </a:ext>
            </a:extLst>
          </p:cNvPr>
          <p:cNvSpPr txBox="1"/>
          <p:nvPr/>
        </p:nvSpPr>
        <p:spPr>
          <a:xfrm>
            <a:off x="2914094" y="677099"/>
            <a:ext cx="5377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Distance vs Actual Delivery Time</a:t>
            </a:r>
          </a:p>
        </p:txBody>
      </p:sp>
    </p:spTree>
    <p:extLst>
      <p:ext uri="{BB962C8B-B14F-4D97-AF65-F5344CB8AC3E}">
        <p14:creationId xmlns:p14="http://schemas.microsoft.com/office/powerpoint/2010/main" val="1134345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C7903-5DB2-420C-956A-9FFFECB6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32" y="915800"/>
            <a:ext cx="3486637" cy="3010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E556E-D0BF-486D-8DA6-D62504AE2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797" y="915800"/>
            <a:ext cx="3486637" cy="3010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34C94A-51C7-4F23-A9C4-54A77821FCDB}"/>
              </a:ext>
            </a:extLst>
          </p:cNvPr>
          <p:cNvSpPr txBox="1"/>
          <p:nvPr/>
        </p:nvSpPr>
        <p:spPr>
          <a:xfrm>
            <a:off x="972012" y="5170822"/>
            <a:ext cx="8358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Points: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Restaurant preparation affects total delivery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Driver experience can influence delivery efficiency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66AFB-2A44-41E1-8BF0-A191A74F34AF}"/>
              </a:ext>
            </a:extLst>
          </p:cNvPr>
          <p:cNvSpPr txBox="1"/>
          <p:nvPr/>
        </p:nvSpPr>
        <p:spPr>
          <a:xfrm>
            <a:off x="3506780" y="44874"/>
            <a:ext cx="9186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Restaurant &amp; Driver Factors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124E9-8C1D-4A97-A5EC-9F83B2BAAE8A}"/>
              </a:ext>
            </a:extLst>
          </p:cNvPr>
          <p:cNvSpPr txBox="1"/>
          <p:nvPr/>
        </p:nvSpPr>
        <p:spPr>
          <a:xfrm rot="10800000" flipV="1">
            <a:off x="1602731" y="4180754"/>
            <a:ext cx="3486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Late Delivery Rate by Restaurant Preparation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C6A20-127F-4BD6-9E8C-9A9BB20FD661}"/>
              </a:ext>
            </a:extLst>
          </p:cNvPr>
          <p:cNvSpPr txBox="1"/>
          <p:nvPr/>
        </p:nvSpPr>
        <p:spPr>
          <a:xfrm>
            <a:off x="6228626" y="4180754"/>
            <a:ext cx="464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Late Delivery Rate by Driver Experience</a:t>
            </a:r>
          </a:p>
        </p:txBody>
      </p:sp>
    </p:spTree>
    <p:extLst>
      <p:ext uri="{BB962C8B-B14F-4D97-AF65-F5344CB8AC3E}">
        <p14:creationId xmlns:p14="http://schemas.microsoft.com/office/powerpoint/2010/main" val="718006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F1AB40-A0DC-420B-8DB1-04B3F24231B7}"/>
              </a:ext>
            </a:extLst>
          </p:cNvPr>
          <p:cNvSpPr txBox="1"/>
          <p:nvPr/>
        </p:nvSpPr>
        <p:spPr>
          <a:xfrm>
            <a:off x="1180730" y="599140"/>
            <a:ext cx="8105312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                    Key Findings &amp; Recommendations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Key Findings :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37% late delivery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Traffic affects delivery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Storm and rain create more delays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Longer distance increases delivery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Actual time &gt; estimated time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>
                <a:solidFill>
                  <a:srgbClr val="FF0000"/>
                </a:solidFill>
              </a:rPr>
              <a:t>Recommendations :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delivery time estimation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traffic-aware route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Prepare for bad weather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 restaurant preparation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driver allocation</a:t>
            </a:r>
          </a:p>
        </p:txBody>
      </p:sp>
    </p:spTree>
    <p:extLst>
      <p:ext uri="{BB962C8B-B14F-4D97-AF65-F5344CB8AC3E}">
        <p14:creationId xmlns:p14="http://schemas.microsoft.com/office/powerpoint/2010/main" val="58858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B2EBB4-CDDA-4AD1-934A-091CCC253A5F}"/>
              </a:ext>
            </a:extLst>
          </p:cNvPr>
          <p:cNvSpPr txBox="1"/>
          <p:nvPr/>
        </p:nvSpPr>
        <p:spPr>
          <a:xfrm>
            <a:off x="705034" y="1260604"/>
            <a:ext cx="475473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Traffic and bad weather affect delivery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Longer distance can increase delivery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Restaurant preparation time is also important.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Actual delivery time (35.24 min) is higher than estimated time (31.01 min).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C937D-9F84-4C18-80F4-CC4C86B1A15E}"/>
              </a:ext>
            </a:extLst>
          </p:cNvPr>
          <p:cNvSpPr txBox="1"/>
          <p:nvPr/>
        </p:nvSpPr>
        <p:spPr>
          <a:xfrm>
            <a:off x="5814873" y="1260604"/>
            <a:ext cx="626763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delivery time estimation.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traffic-aware routes.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Prepare better for bad weather.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restaurant preparation speed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B9F34-97EF-4405-B2CB-ABB314DB66F7}"/>
              </a:ext>
            </a:extLst>
          </p:cNvPr>
          <p:cNvSpPr txBox="1"/>
          <p:nvPr/>
        </p:nvSpPr>
        <p:spPr>
          <a:xfrm>
            <a:off x="1606859" y="4603044"/>
            <a:ext cx="90108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Final Message: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/>
              <a:t>Data-driven decisions can reduce late deliveries and improve customer satisfaction.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D5D40-5C8C-4CD6-B115-5F82AB5D577E}"/>
              </a:ext>
            </a:extLst>
          </p:cNvPr>
          <p:cNvSpPr txBox="1"/>
          <p:nvPr/>
        </p:nvSpPr>
        <p:spPr>
          <a:xfrm>
            <a:off x="1733364" y="692407"/>
            <a:ext cx="2572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ACC7C-A975-4FC2-B44A-C38CF99B3327}"/>
              </a:ext>
            </a:extLst>
          </p:cNvPr>
          <p:cNvSpPr txBox="1"/>
          <p:nvPr/>
        </p:nvSpPr>
        <p:spPr>
          <a:xfrm>
            <a:off x="5899212" y="692407"/>
            <a:ext cx="4123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642027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C528-6A3B-4154-AC20-4182E8EB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236" y="2624328"/>
            <a:ext cx="3493273" cy="1609344"/>
          </a:xfrm>
        </p:spPr>
        <p:txBody>
          <a:bodyPr/>
          <a:lstStyle/>
          <a:p>
            <a:r>
              <a:rPr lang="en-US" dirty="0"/>
              <a:t>  Thank you</a:t>
            </a:r>
          </a:p>
        </p:txBody>
      </p:sp>
    </p:spTree>
    <p:extLst>
      <p:ext uri="{BB962C8B-B14F-4D97-AF65-F5344CB8AC3E}">
        <p14:creationId xmlns:p14="http://schemas.microsoft.com/office/powerpoint/2010/main" val="1043161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{5A33A9CC-D246-4384-9D4D-84E418B27C72}TF2ec419c9-97c3-4958-b02a-0886397d33af51fa13e8-be82e899df39</Template>
  <TotalTime>1292</TotalTime>
  <Words>517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Rockwell</vt:lpstr>
      <vt:lpstr>Rockwell Condensed</vt:lpstr>
      <vt:lpstr>Wingdings</vt:lpstr>
      <vt:lpstr>Wood Type</vt:lpstr>
      <vt:lpstr>Food Delivery Performance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Performance Analysis</dc:title>
  <dc:creator>HIna Irshad</dc:creator>
  <cp:lastModifiedBy>DELL</cp:lastModifiedBy>
  <cp:revision>22</cp:revision>
  <dcterms:created xsi:type="dcterms:W3CDTF">2026-09-05T10:39:47Z</dcterms:created>
  <dcterms:modified xsi:type="dcterms:W3CDTF">2026-09-06T08:12:20Z</dcterms:modified>
</cp:coreProperties>
</file>